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5313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8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0584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3: DESARROLLO DE UN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INFORMACIÓN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3063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Fundamentos del Proceso de Desarrollo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971800" y="3931920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2971800" y="39319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Proyecto: MILPÍN — Valle del Yaqui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una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B3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B3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estandarizada?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1600200"/>
            <a:ext cx="3017520" cy="1325880"/>
          </a:xfrm>
          <a:prstGeom prst="rect">
            <a:avLst/>
          </a:prstGeom>
          <a:solidFill>
            <a:srgbClr val="EBF0FA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11480" y="1664208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"Hasta 70% de los proyectos de SI fracasan en cumplir expectativas, exceden presupuesto o se retrasan significativamente"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4320" y="306324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Principios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B3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Fundamentales del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B3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Sistemas: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946556"/>
              </p:ext>
            </p:extLst>
          </p:nvPr>
        </p:nvGraphicFramePr>
        <p:xfrm>
          <a:off x="3474720" y="164592"/>
          <a:ext cx="5394960" cy="482803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Aplicación en MILPÍN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8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Involucrar usuarios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Productores del Módulo 3 (DR-041) validan recomendaciones en campo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Usar proceso probado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Metodología FAST + FAO-56 Penman-Monteith (estándar internacional)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Establecer metas claras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Reducir consumo: 8,000 → 6,000 m³/ha/ciclo (ahorro 25%)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Definir requerimientos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 PIECES + MoSCoW documentados antes de codificar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Administrar prototipos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funcional con core técnico validado iterativamente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Justificar costo-beneficio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Ahorro ~$3,360 MXN/ha/ciclo; ROI estimado 18 meses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Administrar el alcance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Fases A-D </a:t>
                      </a:r>
                      <a:r>
                        <a:rPr lang="en-US" sz="9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definidas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No cancelar proyectos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Refactorización progresiva, sin big-bang rewrites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 No retrasar desarrollo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 iterativa: prototipo → MVP → producción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 Divulgar resultados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GIS + reportes de ahorro para operadores de campo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B3868"/>
          </a:solidFill>
          <a:ln w="12700">
            <a:solidFill>
              <a:srgbClr val="1B386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82880" y="274320"/>
            <a:ext cx="28346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Metodología FAST:
Fases y Tareas Detalladas
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FAST
(Framework for the
Application of Systems
Thinking)
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1: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Alcance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37560" y="182880"/>
          <a:ext cx="5577840" cy="475488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Salidas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8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4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 Investigar el problema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Entender por qué el sistema manual de riego es ineficiente en el Valle del Yaqui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Entrevistas con productores, observación en campo, registros DR-041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Enunciado del problema validado por agrónomo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Entrevistas, PIECES diagnóstico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4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 Definir el alcance del proyecto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Delimitar qué incluye y excluye MILPÍN en esta fase de desarrollo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Enunciado del problema, reuniones con Módulo 3 del DR-041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 de alcance: KPIs, exclusiones y supuestos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 de factibilidad, MoSCoW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3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 Reportar hallazgos y programar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Comunicar el plan de trabajo y obtener aprobación formal del DR-041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Declaración de alcance, estimaciones de costo-beneficio hídrico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 de definición de alcance aprobado por stakeholders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de proyecto, diagrama de hitos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1B3868"/>
          </a:solidFill>
          <a:ln w="12700">
            <a:solidFill>
              <a:srgbClr val="1B386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64592" y="182880"/>
            <a:ext cx="2788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Típico:
Informe de Definición de Alcance
</a:t>
            </a:r>
            <a:endParaRPr lang="en-US" sz="130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Proyecto: Sistema de Riego Inteligente MILPÍN
</a:t>
            </a:r>
            <a:endParaRPr lang="en-US" sz="130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de Negocio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Consumo promedio: 8,000 m³/ha/ciclo
  (óptimo FAO: 6,000 m³/ha)
- Sin trazabilidad digital de riegos
- Proceso manual no escalable a &gt;20 parcelas
</a:t>
            </a:r>
            <a:endParaRPr lang="en-US" sz="130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Clave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Propietario: DR-041, Módulo 3
- Usuarios primarios: 15 productores,
  8 operadores de campo
- Equipo: 1 analista/DS, 1 dev, 1 agrónomo
</a:t>
            </a:r>
            <a:endParaRPr lang="en-US" sz="130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y Presupuesto Preliminar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Duración estimada: 8 meses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Tarifa base: $1.68 MXN/m³ (CFE 9-CU)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ROI esperado: 18 meses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91840" y="164592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INCLUIDO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0" y="548640"/>
            <a:ext cx="5577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automático ET₀ FAO-56 Penman-Monteith + Hargreaves (fallback)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de riego con nivel de confianza por parcela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GIS interactivo con capas de parcelas georreferenciadas (PostGIS)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web: histórico de riegos y proyección 7 días (Ridge Regression)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voz en español (Whisper → Ollama llama3.2 → Web Speech API)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K-Means de parcelas por perfil hídrico (scikit-learn)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2670048"/>
            <a:ext cx="55778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291840" y="2724912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EXCLUIDO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3090672"/>
            <a:ext cx="5577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automático de válvulas físicas en campo (Fase 2)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sistemas contables o ERP externos (Fase 3)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predicción y alerta de plagas (investigación futura)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nativa iOS/Android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868"/>
          </a:solidFill>
          <a:ln w="12700">
            <a:solidFill>
              <a:srgbClr val="1B386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2: Análisis del Problema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43000"/>
          <a:ext cx="8778240" cy="38404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Salidas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8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12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 Estudiar el sistema actual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Entender cómo se toman hoy las decisiones de riego y documentar sus fallos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Entrevistas con productores y operadores, registros de riego en papel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Diagrama del sistema actual con cuellos de botella identificados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PIECES, observación, análisis de documentos existentes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12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 Identificar oportunidades de mejora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Determinar dónde MILPÍN generará mayor impacto hídrico y económico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Diagnóstico PIECES, datos de consumo DR-041 (m³/ha/ciclo)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priorizada de oportunidades con impacto estimado en m³ ahorrados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 PIECES, MoSCoW, benchmarking FAO-56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2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 Actualizar o confirmar hallazgos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 con stakeholders que el problema y las oportunidades estén bien definidos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Oportunidades documentadas, reunión de validación con Módulo 3 DR-041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de proyecto actualizado con alcance confirmado para Fase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Presentación de hallazgos, sesión de validación con productores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B3868"/>
          </a:solidFill>
          <a:ln w="12700">
            <a:solidFill>
              <a:srgbClr val="1B386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82880" y="2743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MoSCoW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0" y="27432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técnica de priorización utilizada para decidir qué tareas, características o ideas son más importantes y cuáles deben descartarse.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0" y="10058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funciona: Clasifica las opciones en cuatro categorías: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1463040"/>
            <a:ext cx="53949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(Debe tener): 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Esencial e indispensable. Si falta, MILPÍN no cumple su objetivo de reducir consumo. Ej: Motor FAO-56, recomendación de riego, BD de parcelas.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474720" y="2267712"/>
            <a:ext cx="53949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(Debería tener): 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 pero no crítico para el lanzamiento. Se puede posponer. Ej: Reportes mensuales de ahorro, riego manual desde app.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74720" y="3072384"/>
            <a:ext cx="53949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(Podría tener): 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Deseable, de menor prioridad. Se añade si hay tiempo y recursos. Ej: Simulación de escenarios climáticos, comparativa entre parcelas.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0" y="3877056"/>
            <a:ext cx="53949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(No tendrá): 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hará en este ciclo; se descarta o guarda para fases futuras. Ej: Control de válvulas físicas, app móvil nativa, módulo de plagas.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74720" y="46634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Evitar la sobrecarga de trabajo y alinear a todo el equipo del DR-041 sobre qué es lo verdaderamente urgente para llegar al MVP.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PIECES del Sistema Actual de MILPÍN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658368"/>
          <a:ext cx="8778240" cy="437083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 Identificado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Oportunidad de Mejora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8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(Desempeño)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Decisiones de riego manuales; el agrónomo tarda 24-48h en emitir recomendación por parcela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Sobre/sub-riego en ~40% de eventos; consumo de 8,000 m³/ha/ciclo (25% por encima del óptimo FAO)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FAO-56 automático genera recomendación en &lt;5 min con nivel de confianza explícito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(Información)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registro digital de riegos aplicados, lecturas de humedad ni datos climáticos históricos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Imposible auditar decisiones; sin base histórica para entrenar ni mejorar modelos predictivos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 PostgreSQL/PostGIS con histórico por parcela; exportación a reportes y pipeline ML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(Economía)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hídrico: 8,000 m³/ha x $1.68 MXN/m³ = $13,440 MXN/ha/ciclo; sin métricas de eficiencia visibles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Sobrecosto de ~$3,360 MXN/ha/ciclo vs. óptimo; costo del desperdicio invisible para el productor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Reducir a 6,000 m³/ha → ahorro $3,360/ha/ciclo; dashboard con eficiencia acumulada por ciclo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(Control)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alertas de déficit hídrico; datos de sensores sin validación de calidad; acceso sin autenticación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Riegos tardíos que afectan rendimiento; datos corruptos pueden generar recomendaciones erróneas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Alertas automáticas + detector de anomalías (Isolation Forest); autenticación por usuario y CORS restringido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(Eficiencia)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agrónomo recorre físicamente cada parcela para evaluar la necesidad de riego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agrónomo limita la operación a &lt;20 parcelas; proceso repetitivo sin valor analítico añadido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clustering + balance hídrico automático (FAO-56); 1 operador puede gestionar 100+ ha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(Servicios)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Interfaz técnica inaccesible para productores con educación básica; sin soporte offline en campo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 adopción tecnológica; dependencia permanente de intermediarios para operar el sistema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Interfaz de voz en español (Whisper + Ollama) + mapa GIS visual; diseño con iconos para usuarios de educación básica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1287</Words>
  <Application>Microsoft Office PowerPoint</Application>
  <PresentationFormat>Presentación en pantalla (16:9)</PresentationFormat>
  <Paragraphs>150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MILPIN - Unidad 3: Analisis del Sistema</dc:title>
  <dc:subject>PptxGenJS Presentation</dc:subject>
  <dc:creator>PptxGenJS</dc:creator>
  <cp:lastModifiedBy>Alondra Danae Madrigal García</cp:lastModifiedBy>
  <cp:revision>2</cp:revision>
  <dcterms:created xsi:type="dcterms:W3CDTF">2026-05-20T15:45:43Z</dcterms:created>
  <dcterms:modified xsi:type="dcterms:W3CDTF">2026-05-20T16:21:45Z</dcterms:modified>
</cp:coreProperties>
</file>